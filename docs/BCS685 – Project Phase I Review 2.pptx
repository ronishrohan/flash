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6858000" cx="12192000"/>
  <p:notesSz cx="6797675" cy="9874250"/>
  <p:embeddedFontLst>
    <p:embeddedFont>
      <p:font typeface="Century Gothic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{2D200454-40CA-4A62-9FC3-DE9A4176ACB9}">
      <p15:notesGuideLst>
        <p15:guide id="1" orient="horz" pos="3110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  <p:ext uri="GoogleSlidesCustomDataVersion2">
      <go:slidesCustomData xmlns:go="http://customooxmlschemas.google.com/" r:id="rId18" roundtripDataSignature="AMtx7mi9pJoCNnyr4EjB3jNfp8bpqZzY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110" orient="horz"/>
        <p:guide pos="2141"/>
      </p:guideLst>
    </p:cSldViewPr>
  </p:notes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font" Target="fonts/CenturyGothic-regular.fntdata"/><Relationship Id="rId15" Type="http://schemas.openxmlformats.org/officeDocument/2006/relationships/font" Target="fonts/CenturyGothic-bold.fntdata"/><Relationship Id="rId16" Type="http://schemas.openxmlformats.org/officeDocument/2006/relationships/font" Target="fonts/CenturyGothic-italic.fntdata"/><Relationship Id="rId17" Type="http://schemas.openxmlformats.org/officeDocument/2006/relationships/font" Target="fonts/CenturyGothic-boldItalic.fntdata"/><Relationship Id="rId18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49687" y="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36562" y="1233487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37895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49687" y="9378950"/>
            <a:ext cx="2946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4:notes"/>
          <p:cNvSpPr txBox="1"/>
          <p:nvPr>
            <p:ph idx="1" type="body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" name="Google Shape;62;p34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9:notes"/>
          <p:cNvSpPr txBox="1"/>
          <p:nvPr>
            <p:ph idx="1" type="body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" name="Google Shape;70;p39:notes"/>
          <p:cNvSpPr/>
          <p:nvPr>
            <p:ph idx="2" type="sldImg"/>
          </p:nvPr>
        </p:nvSpPr>
        <p:spPr>
          <a:xfrm>
            <a:off x="436562" y="1233487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ce7bfcba6_2_1:notes"/>
          <p:cNvSpPr/>
          <p:nvPr>
            <p:ph idx="2" type="sldImg"/>
          </p:nvPr>
        </p:nvSpPr>
        <p:spPr>
          <a:xfrm>
            <a:off x="436562" y="1233487"/>
            <a:ext cx="5924700" cy="3333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7" name="Google Shape;77;g3dce7bfcba6_2_1:notes"/>
          <p:cNvSpPr txBox="1"/>
          <p:nvPr>
            <p:ph idx="1" type="body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" name="Google Shape;78;g3dce7bfcba6_2_1:notes"/>
          <p:cNvSpPr txBox="1"/>
          <p:nvPr>
            <p:ph idx="12" type="sldNum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3dbb29da49_0_11:notes"/>
          <p:cNvSpPr/>
          <p:nvPr>
            <p:ph idx="2" type="sldImg"/>
          </p:nvPr>
        </p:nvSpPr>
        <p:spPr>
          <a:xfrm>
            <a:off x="436562" y="1233487"/>
            <a:ext cx="5924700" cy="3333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7" name="Google Shape;97;g33dbb29da49_0_11:notes"/>
          <p:cNvSpPr txBox="1"/>
          <p:nvPr>
            <p:ph idx="1" type="body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g33dbb29da49_0_11:notes"/>
          <p:cNvSpPr txBox="1"/>
          <p:nvPr>
            <p:ph idx="12" type="sldNum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0:notes"/>
          <p:cNvSpPr txBox="1"/>
          <p:nvPr>
            <p:ph idx="1" type="body"/>
          </p:nvPr>
        </p:nvSpPr>
        <p:spPr>
          <a:xfrm>
            <a:off x="679450" y="4751387"/>
            <a:ext cx="5438775" cy="3889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40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0d9c4f0da6_0_9:notes"/>
          <p:cNvSpPr/>
          <p:nvPr>
            <p:ph idx="2" type="sldImg"/>
          </p:nvPr>
        </p:nvSpPr>
        <p:spPr>
          <a:xfrm>
            <a:off x="436563" y="1233488"/>
            <a:ext cx="5924550" cy="3333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13" name="Google Shape;113;g30d9c4f0da6_0_9:notes"/>
          <p:cNvSpPr txBox="1"/>
          <p:nvPr>
            <p:ph idx="1" type="body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g30d9c4f0da6_0_9:notes"/>
          <p:cNvSpPr txBox="1"/>
          <p:nvPr>
            <p:ph idx="12" type="sldNum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34dc14c23_0_0:notes"/>
          <p:cNvSpPr/>
          <p:nvPr>
            <p:ph idx="2" type="sldImg"/>
          </p:nvPr>
        </p:nvSpPr>
        <p:spPr>
          <a:xfrm>
            <a:off x="436562" y="1233487"/>
            <a:ext cx="5924700" cy="3333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e34dc14c23_0_0:notes"/>
          <p:cNvSpPr txBox="1"/>
          <p:nvPr>
            <p:ph idx="1" type="body"/>
          </p:nvPr>
        </p:nvSpPr>
        <p:spPr>
          <a:xfrm>
            <a:off x="679450" y="4751387"/>
            <a:ext cx="5438700" cy="3889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e34dc14c23_0_0:notes"/>
          <p:cNvSpPr txBox="1"/>
          <p:nvPr>
            <p:ph idx="12" type="sldNum"/>
          </p:nvPr>
        </p:nvSpPr>
        <p:spPr>
          <a:xfrm>
            <a:off x="3849687" y="9378950"/>
            <a:ext cx="2946300" cy="495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ctrTitle"/>
          </p:nvPr>
        </p:nvSpPr>
        <p:spPr>
          <a:xfrm>
            <a:off x="696417" y="2099733"/>
            <a:ext cx="10804890" cy="9706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Century Gothic"/>
              <a:buNone/>
              <a:defRPr sz="5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subTitle"/>
          </p:nvPr>
        </p:nvSpPr>
        <p:spPr>
          <a:xfrm>
            <a:off x="1767351" y="335692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cap="non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5"/>
          <p:cNvSpPr/>
          <p:nvPr/>
        </p:nvSpPr>
        <p:spPr>
          <a:xfrm>
            <a:off x="2908300" y="6334780"/>
            <a:ext cx="6096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Department of Computer Science and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CMR Institute of Technology, Bangalore.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5" name="Google Shape;25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96417" y="558343"/>
            <a:ext cx="1990725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50652" y="627959"/>
            <a:ext cx="941288" cy="97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2242158" y="973137"/>
            <a:ext cx="7674953" cy="6802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10339387" y="152400"/>
            <a:ext cx="838200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 txBox="1"/>
          <p:nvPr>
            <p:ph type="title"/>
          </p:nvPr>
        </p:nvSpPr>
        <p:spPr>
          <a:xfrm>
            <a:off x="2223082" y="973137"/>
            <a:ext cx="7694029" cy="708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1154954" y="2603500"/>
            <a:ext cx="4825158" cy="34163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2" type="body"/>
          </p:nvPr>
        </p:nvSpPr>
        <p:spPr>
          <a:xfrm>
            <a:off x="6208712" y="2603500"/>
            <a:ext cx="4825159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004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2004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indent="-32004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indent="-32004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indent="-32004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indent="-32004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indent="-32004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indent="-32004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indent="-32004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10361612" y="25399"/>
            <a:ext cx="838200" cy="6016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1"/>
          <p:cNvSpPr txBox="1"/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41"/>
          <p:cNvSpPr txBox="1"/>
          <p:nvPr>
            <p:ph idx="1" type="subTitle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  <a:defRPr cap="none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9" name="Google Shape;59;p41"/>
          <p:cNvSpPr/>
          <p:nvPr/>
        </p:nvSpPr>
        <p:spPr>
          <a:xfrm>
            <a:off x="2908300" y="6334780"/>
            <a:ext cx="6096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 and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CMR Institute of Technology, Bangalore.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4"/>
          <p:cNvGrpSpPr/>
          <p:nvPr/>
        </p:nvGrpSpPr>
        <p:grpSpPr>
          <a:xfrm>
            <a:off x="0" y="-1587"/>
            <a:ext cx="12192000" cy="6865937"/>
            <a:chOff x="0" y="-2373"/>
            <a:chExt cx="12192000" cy="6867027"/>
          </a:xfrm>
        </p:grpSpPr>
        <p:sp>
          <p:nvSpPr>
            <p:cNvPr id="11" name="Google Shape;11;p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12" name="Google Shape;12;p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9803"/>
                  </a:srgbClr>
                </a:gs>
                <a:gs pos="36000">
                  <a:srgbClr val="F7F7F7">
                    <a:alpha val="8627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6666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4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2549"/>
                  </a:srgbClr>
                </a:gs>
                <a:gs pos="36000">
                  <a:srgbClr val="F7F7F7">
                    <a:alpha val="5490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2549"/>
                  </a:srgbClr>
                </a:gs>
                <a:gs pos="36000">
                  <a:srgbClr val="F7F7F7">
                    <a:alpha val="5490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4"/>
            <p:cNvSpPr/>
            <p:nvPr/>
          </p:nvSpPr>
          <p:spPr>
            <a:xfrm>
              <a:off x="0" y="1587"/>
              <a:ext cx="12192000" cy="6856413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7" name="Google Shape;17;p4"/>
          <p:cNvSpPr/>
          <p:nvPr/>
        </p:nvSpPr>
        <p:spPr>
          <a:xfrm>
            <a:off x="10437812" y="0"/>
            <a:ext cx="685800" cy="571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r="5400000" dist="25400">
              <a:srgbClr val="000000">
                <a:alpha val="4352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2098720" y="973137"/>
            <a:ext cx="7818392" cy="708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548656" y="2258913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988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972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956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956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8956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8956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8956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8956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10347324" y="41275"/>
            <a:ext cx="838200" cy="4889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6"/>
          <p:cNvGrpSpPr/>
          <p:nvPr/>
        </p:nvGrpSpPr>
        <p:grpSpPr>
          <a:xfrm>
            <a:off x="3220" y="-123660"/>
            <a:ext cx="12192000" cy="6981660"/>
            <a:chOff x="0" y="-2373"/>
            <a:chExt cx="12192000" cy="6867027"/>
          </a:xfrm>
        </p:grpSpPr>
        <p:sp>
          <p:nvSpPr>
            <p:cNvPr id="29" name="Google Shape;29;p6"/>
            <p:cNvSpPr/>
            <p:nvPr/>
          </p:nvSpPr>
          <p:spPr>
            <a:xfrm>
              <a:off x="0" y="0"/>
              <a:ext cx="12192000" cy="6857999"/>
            </a:xfrm>
            <a:prstGeom prst="rect">
              <a:avLst/>
            </a:prstGeom>
            <a:blipFill rotWithShape="1">
              <a:blip r:embed="rId1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0" name="Google Shape;30;p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F7F7F7">
                    <a:alpha val="9803"/>
                  </a:srgbClr>
                </a:gs>
                <a:gs pos="36000">
                  <a:srgbClr val="F7F7F7">
                    <a:alpha val="8627"/>
                  </a:srgbClr>
                </a:gs>
                <a:gs pos="75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1" name="Google Shape;31;p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F7F7F7">
                    <a:alpha val="6666"/>
                  </a:srgbClr>
                </a:gs>
                <a:gs pos="36000">
                  <a:srgbClr val="F7F7F7">
                    <a:alpha val="6666"/>
                  </a:srgbClr>
                </a:gs>
                <a:gs pos="72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2" name="Google Shape;32;p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F7F7F7">
                    <a:alpha val="5490"/>
                  </a:srgbClr>
                </a:gs>
                <a:gs pos="36000">
                  <a:srgbClr val="F7F7F7">
                    <a:alpha val="4705"/>
                  </a:srgbClr>
                </a:gs>
                <a:gs pos="69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3" name="Google Shape;33;p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F7F7F7">
                    <a:alpha val="12549"/>
                  </a:srgbClr>
                </a:gs>
                <a:gs pos="36000">
                  <a:srgbClr val="F7F7F7">
                    <a:alpha val="5490"/>
                  </a:srgbClr>
                </a:gs>
                <a:gs pos="73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4" name="Google Shape;34;p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>
              <a:gsLst>
                <a:gs pos="0">
                  <a:srgbClr val="F7F7F7">
                    <a:alpha val="12549"/>
                  </a:srgbClr>
                </a:gs>
                <a:gs pos="36000">
                  <a:srgbClr val="F7F7F7">
                    <a:alpha val="5490"/>
                  </a:srgbClr>
                </a:gs>
                <a:gs pos="66000">
                  <a:srgbClr val="F7F7F7">
                    <a:alpha val="0"/>
                  </a:srgbClr>
                </a:gs>
                <a:gs pos="100000">
                  <a:srgbClr val="F7F7F7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5" name="Google Shape;35;p6"/>
            <p:cNvSpPr/>
            <p:nvPr/>
          </p:nvSpPr>
          <p:spPr>
            <a:xfrm rot="-600000">
              <a:off x="8490951" y="1797517"/>
              <a:ext cx="3299407" cy="440924"/>
            </a:xfrm>
            <a:custGeom>
              <a:rect b="b" l="l" r="r" t="t"/>
              <a:pathLst>
                <a:path extrusionOk="0" h="5291" w="1000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18431"/>
              </a:scheme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6" name="Google Shape;36;p6"/>
            <p:cNvSpPr/>
            <p:nvPr/>
          </p:nvSpPr>
          <p:spPr>
            <a:xfrm>
              <a:off x="459506" y="1866405"/>
              <a:ext cx="11277600" cy="4533900"/>
            </a:xfrm>
            <a:custGeom>
              <a:rect b="b" l="l" r="r" t="t"/>
              <a:pathLst>
                <a:path extrusionOk="0" h="2856" w="7104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  <p:sp>
          <p:nvSpPr>
            <p:cNvPr id="37" name="Google Shape;37;p6"/>
            <p:cNvSpPr/>
            <p:nvPr/>
          </p:nvSpPr>
          <p:spPr>
            <a:xfrm>
              <a:off x="0" y="1587"/>
              <a:ext cx="12192000" cy="6856414"/>
            </a:xfrm>
            <a:custGeom>
              <a:rect b="b" l="l" r="r" t="t"/>
              <a:pathLst>
                <a:path extrusionOk="0" h="8638" w="15356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endParaRPr>
            </a:p>
          </p:txBody>
        </p:sp>
      </p:grpSp>
      <p:sp>
        <p:nvSpPr>
          <p:cNvPr id="38" name="Google Shape;38;p6"/>
          <p:cNvSpPr txBox="1"/>
          <p:nvPr>
            <p:ph type="title"/>
          </p:nvPr>
        </p:nvSpPr>
        <p:spPr>
          <a:xfrm>
            <a:off x="2274887" y="973137"/>
            <a:ext cx="7642225" cy="7037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b="0" i="0" sz="3600" u="none" cap="none" strike="noStrik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1155700" y="2603500"/>
            <a:ext cx="8761412" cy="34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b="0" i="0" sz="18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0988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b="0" i="0" sz="16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29972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b="0" i="0" sz="14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28956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28956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28956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28956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28956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28956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b="0" i="0" sz="1200" u="none" cap="none" strike="noStrik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40" name="Google Shape;40;p6"/>
          <p:cNvSpPr/>
          <p:nvPr/>
        </p:nvSpPr>
        <p:spPr>
          <a:xfrm>
            <a:off x="10437812" y="0"/>
            <a:ext cx="685800" cy="606425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63500" dir="5400000" dist="25400">
              <a:srgbClr val="000000">
                <a:alpha val="4352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10361612" y="25399"/>
            <a:ext cx="838200" cy="6016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  <a:defRPr b="0" i="0" sz="2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" name="Google Shape;42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450652" y="627959"/>
            <a:ext cx="941288" cy="9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6"/>
          <p:cNvSpPr/>
          <p:nvPr/>
        </p:nvSpPr>
        <p:spPr>
          <a:xfrm>
            <a:off x="2703512" y="6296673"/>
            <a:ext cx="60960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Department of Computer Science and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Georgia"/>
                <a:ea typeface="Georgia"/>
                <a:cs typeface="Georgia"/>
                <a:sym typeface="Georgia"/>
              </a:rPr>
              <a:t>CMR Institute of Technology, Bangalore.</a:t>
            </a:r>
            <a:endParaRPr b="0" i="0" sz="1400" u="none" cap="none" strike="noStrike">
              <a:solidFill>
                <a:srgbClr val="000000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4" name="Google Shape;44;p6"/>
          <p:cNvSpPr/>
          <p:nvPr/>
        </p:nvSpPr>
        <p:spPr>
          <a:xfrm>
            <a:off x="8151812" y="150813"/>
            <a:ext cx="1600200" cy="1599946"/>
          </a:xfrm>
          <a:prstGeom prst="ellipse">
            <a:avLst/>
          </a:prstGeom>
          <a:gradFill>
            <a:gsLst>
              <a:gs pos="0">
                <a:srgbClr val="F7F7F7">
                  <a:alpha val="12549"/>
                </a:srgbClr>
              </a:gs>
              <a:gs pos="36000">
                <a:srgbClr val="F7F7F7">
                  <a:alpha val="5490"/>
                </a:srgbClr>
              </a:gs>
              <a:gs pos="73000">
                <a:srgbClr val="F7F7F7">
                  <a:alpha val="0"/>
                </a:srgbClr>
              </a:gs>
              <a:gs pos="100000">
                <a:srgbClr val="F7F7F7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-14401800" y="-3308619"/>
            <a:ext cx="12192000" cy="6855326"/>
          </a:xfrm>
          <a:custGeom>
            <a:rect b="b" l="l" r="r" t="t"/>
            <a:pathLst>
              <a:path extrusionOk="0" h="8638" w="15356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6" name="Google Shape;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5267" y="472100"/>
            <a:ext cx="1478992" cy="101194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4"/>
    <p:sldLayoutId id="2147483652" r:id="rId5"/>
    <p:sldLayoutId id="2147483653" r:id="rId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4"/>
          <p:cNvSpPr txBox="1"/>
          <p:nvPr>
            <p:ph type="ctrTitle"/>
          </p:nvPr>
        </p:nvSpPr>
        <p:spPr>
          <a:xfrm>
            <a:off x="1683171" y="2099733"/>
            <a:ext cx="8825658" cy="9706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Century Gothic"/>
              <a:buNone/>
            </a:pPr>
            <a:r>
              <a:rPr lang="en-US" sz="4000"/>
              <a:t>Flash — AI-Powered Email and Calendar Agent</a:t>
            </a:r>
            <a:endParaRPr/>
          </a:p>
        </p:txBody>
      </p:sp>
      <p:sp>
        <p:nvSpPr>
          <p:cNvPr id="65" name="Google Shape;65;p34"/>
          <p:cNvSpPr txBox="1"/>
          <p:nvPr>
            <p:ph idx="4294967295" type="subTitle"/>
          </p:nvPr>
        </p:nvSpPr>
        <p:spPr>
          <a:xfrm>
            <a:off x="1683175" y="3429000"/>
            <a:ext cx="88257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716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By</a:t>
            </a:r>
            <a:endParaRPr b="0" i="0" sz="18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3716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1CR23CS</a:t>
            </a:r>
            <a: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149</a:t>
            </a:r>
            <a:r>
              <a:rPr b="0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 </a:t>
            </a:r>
            <a: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Ronish Rohan</a:t>
            </a:r>
            <a:endParaRPr b="0" i="0" sz="18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3716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1CR23CS1</a:t>
            </a:r>
            <a: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07</a:t>
            </a:r>
            <a:r>
              <a:rPr b="0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 </a:t>
            </a:r>
            <a: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MD Nihal Rahman</a:t>
            </a:r>
            <a:r>
              <a:rPr b="0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</a:t>
            </a:r>
            <a:endParaRPr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716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b="0" i="0" lang="en-US" sz="2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Guidance of</a:t>
            </a:r>
            <a:endParaRPr b="0" i="0" sz="18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3716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</a:t>
            </a:r>
            <a:r>
              <a:rPr b="0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r>
              <a:rPr lang="en-US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Ann Mathews</a:t>
            </a:r>
            <a:r>
              <a:rPr b="0" i="0" lang="en-US" sz="18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Associate Professor</a:t>
            </a:r>
            <a:endParaRPr b="0" i="0" sz="18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13716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3716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3F3F3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6" name="Google Shape;66;p34"/>
          <p:cNvSpPr txBox="1"/>
          <p:nvPr/>
        </p:nvSpPr>
        <p:spPr>
          <a:xfrm>
            <a:off x="3048749" y="626299"/>
            <a:ext cx="60945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BCS685 - Project Phase I</a:t>
            </a:r>
            <a:endParaRPr b="1" i="0" sz="1200" u="none" cap="none" strike="noStrike">
              <a:solidFill>
                <a:schemeClr val="l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- 2 </a:t>
            </a:r>
            <a:endParaRPr b="1" i="0" sz="36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34"/>
          <p:cNvSpPr txBox="1"/>
          <p:nvPr/>
        </p:nvSpPr>
        <p:spPr>
          <a:xfrm>
            <a:off x="8710875" y="4969050"/>
            <a:ext cx="30000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1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Date:01/04/26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9"/>
          <p:cNvSpPr txBox="1"/>
          <p:nvPr>
            <p:ph type="title"/>
          </p:nvPr>
        </p:nvSpPr>
        <p:spPr>
          <a:xfrm>
            <a:off x="1" y="738275"/>
            <a:ext cx="121920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System Architecture</a:t>
            </a:r>
            <a:endParaRPr/>
          </a:p>
        </p:txBody>
      </p:sp>
      <p:sp>
        <p:nvSpPr>
          <p:cNvPr id="73" name="Google Shape;73;p39"/>
          <p:cNvSpPr txBox="1"/>
          <p:nvPr>
            <p:ph idx="12" type="sldNum"/>
          </p:nvPr>
        </p:nvSpPr>
        <p:spPr>
          <a:xfrm>
            <a:off x="10339387" y="152400"/>
            <a:ext cx="838200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4" name="Google Shape;7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2075" y="1905650"/>
            <a:ext cx="9009674" cy="447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ce7bfcba6_2_1"/>
          <p:cNvSpPr txBox="1"/>
          <p:nvPr>
            <p:ph type="title"/>
          </p:nvPr>
        </p:nvSpPr>
        <p:spPr>
          <a:xfrm>
            <a:off x="0" y="973125"/>
            <a:ext cx="121920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Flow of Diagram</a:t>
            </a:r>
            <a:endParaRPr/>
          </a:p>
        </p:txBody>
      </p:sp>
      <p:sp>
        <p:nvSpPr>
          <p:cNvPr id="81" name="Google Shape;81;g3dce7bfcba6_2_1"/>
          <p:cNvSpPr txBox="1"/>
          <p:nvPr>
            <p:ph idx="1" type="body"/>
          </p:nvPr>
        </p:nvSpPr>
        <p:spPr>
          <a:xfrm>
            <a:off x="591525" y="2232100"/>
            <a:ext cx="2740500" cy="11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User Input:	</a:t>
            </a:r>
            <a:r>
              <a:rPr b="1"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Natural language command via chat</a:t>
            </a: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E.g. "Archive all newsletters from this week"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lang="en-US" sz="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 and effort level selection (Flash/Pro, Low/Med/High)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 sz="1900"/>
          </a:p>
        </p:txBody>
      </p:sp>
      <p:sp>
        <p:nvSpPr>
          <p:cNvPr id="82" name="Google Shape;82;g3dce7bfcba6_2_1"/>
          <p:cNvSpPr txBox="1"/>
          <p:nvPr>
            <p:ph idx="12" type="sldNum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 sz="2900"/>
              <a:t>‹#›</a:t>
            </a:fld>
            <a:endParaRPr sz="2900"/>
          </a:p>
        </p:txBody>
      </p:sp>
      <p:sp>
        <p:nvSpPr>
          <p:cNvPr id="83" name="Google Shape;83;g3dce7bfcba6_2_1"/>
          <p:cNvSpPr txBox="1"/>
          <p:nvPr/>
        </p:nvSpPr>
        <p:spPr>
          <a:xfrm>
            <a:off x="8865850" y="2052000"/>
            <a:ext cx="2991000" cy="14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4" name="Google Shape;84;g3dce7bfcba6_2_1"/>
          <p:cNvSpPr txBox="1"/>
          <p:nvPr/>
        </p:nvSpPr>
        <p:spPr>
          <a:xfrm>
            <a:off x="539050" y="3493200"/>
            <a:ext cx="2927100" cy="14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5. </a:t>
            </a:r>
            <a:r>
              <a:rPr b="1" lang="en-US" sz="1000">
                <a:solidFill>
                  <a:schemeClr val="dk1"/>
                </a:solidFill>
              </a:rPr>
              <a:t>Agentic Loop (Core Logic - Stage 2):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lang="en-US" sz="900">
                <a:solidFill>
                  <a:schemeClr val="dk1"/>
                </a:solidFill>
              </a:rPr>
              <a:t>LLM receives messages + 16 tool schemas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lang="en-US" sz="900">
                <a:solidFill>
                  <a:schemeClr val="dk1"/>
                </a:solidFill>
              </a:rPr>
              <a:t>Model reasons and selects tools to invoke</a:t>
            </a:r>
            <a:endParaRPr sz="9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Execute tool calls against Gmail/Calendar API</a:t>
            </a:r>
            <a:endParaRPr sz="900">
              <a:solidFill>
                <a:schemeClr val="dk1"/>
              </a:solidFill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lang="en-US" sz="900">
                <a:solidFill>
                  <a:schemeClr val="dk1"/>
                </a:solidFill>
              </a:rPr>
              <a:t>Append tool results to conversation history</a:t>
            </a:r>
            <a:endParaRPr sz="9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Continue loop (max 8 turns)</a:t>
            </a:r>
            <a:endParaRPr sz="900">
              <a:solidFill>
                <a:schemeClr val="dk1"/>
              </a:solidFill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>
                <a:solidFill>
                  <a:schemeClr val="dk1"/>
                </a:solidFill>
              </a:rPr>
              <a:t>Output: Streamed text response + completed actions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85" name="Google Shape;85;g3dce7bfcba6_2_1"/>
          <p:cNvSpPr txBox="1"/>
          <p:nvPr/>
        </p:nvSpPr>
        <p:spPr>
          <a:xfrm>
            <a:off x="3416350" y="3493200"/>
            <a:ext cx="2593800" cy="11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6. </a:t>
            </a:r>
            <a:r>
              <a:rPr b="1" lang="en-US" sz="1000">
                <a:solidFill>
                  <a:schemeClr val="dk1"/>
                </a:solidFill>
              </a:rPr>
              <a:t>Response Streaming &amp; Persistence: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>
                <a:solidFill>
                  <a:schemeClr val="dk1"/>
                </a:solidFill>
              </a:rPr>
              <a:t>Stream text deltas token-by-token to frontend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>
                <a:solidFill>
                  <a:schemeClr val="dk1"/>
                </a:solidFill>
              </a:rPr>
              <a:t>Save assistant message to Supabase</a:t>
            </a:r>
            <a:endParaRPr sz="9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dk1"/>
                </a:solidFill>
              </a:rPr>
              <a:t>Generate conversation title via LLM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>
                <a:solidFill>
                  <a:schemeClr val="dk1"/>
                </a:solidFill>
              </a:rPr>
              <a:t>Output: Complete response + persisted history</a:t>
            </a:r>
            <a:endParaRPr sz="9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86" name="Google Shape;86;g3dce7bfcba6_2_1"/>
          <p:cNvSpPr txBox="1"/>
          <p:nvPr/>
        </p:nvSpPr>
        <p:spPr>
          <a:xfrm>
            <a:off x="3231350" y="2232100"/>
            <a:ext cx="2991000" cy="11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Chat API Route: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lang="en-US" sz="900">
                <a:solidFill>
                  <a:schemeClr val="dk1"/>
                </a:solidFill>
              </a:rPr>
              <a:t>POST /api/chat receives message array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lang="en-US" sz="900">
                <a:solidFill>
                  <a:schemeClr val="dk1"/>
                </a:solidFill>
              </a:rPr>
              <a:t>Validates request body (messages, model, effort)</a:t>
            </a:r>
            <a:endParaRPr sz="900">
              <a:solidFill>
                <a:schemeClr val="dk1"/>
              </a:solidFill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>
                <a:solidFill>
                  <a:schemeClr val="dk1"/>
                </a:solidFill>
              </a:rPr>
              <a:t>Returns 400/401 for invalid/unauth requests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>
                <a:solidFill>
                  <a:schemeClr val="dk1"/>
                </a:solidFill>
              </a:rPr>
              <a:t>Initiates streaming ReadableStream response</a:t>
            </a:r>
            <a:endParaRPr sz="9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7" name="Google Shape;87;g3dce7bfcba6_2_1"/>
          <p:cNvSpPr txBox="1"/>
          <p:nvPr/>
        </p:nvSpPr>
        <p:spPr>
          <a:xfrm>
            <a:off x="5836925" y="2232100"/>
            <a:ext cx="3148800" cy="10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Auth &amp; </a:t>
            </a:r>
            <a:r>
              <a:rPr b="1" lang="en-US" sz="1000">
                <a:solidFill>
                  <a:schemeClr val="dk1"/>
                </a:solidFill>
              </a:rPr>
              <a:t>Token Retrieval: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>
                <a:solidFill>
                  <a:schemeClr val="dk1"/>
                </a:solidFill>
              </a:rPr>
              <a:t>Authenticate user via Supabase server client</a:t>
            </a:r>
            <a:endParaRPr sz="900">
              <a:solidFill>
                <a:schemeClr val="dk1"/>
              </a:solidFill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lang="en-US" sz="900">
                <a:solidFill>
                  <a:schemeClr val="dk1"/>
                </a:solidFill>
              </a:rPr>
              <a:t>Retrieve Gmail OAuth tokens from gmail_tokens table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lang="en-US" sz="900">
                <a:solidFill>
                  <a:schemeClr val="dk1"/>
                </a:solidFill>
              </a:rPr>
              <a:t>Output: User ID + valid access token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dce7bfcba6_2_1"/>
          <p:cNvSpPr txBox="1"/>
          <p:nvPr/>
        </p:nvSpPr>
        <p:spPr>
          <a:xfrm>
            <a:off x="8860650" y="2232100"/>
            <a:ext cx="3060900" cy="11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4. </a:t>
            </a:r>
            <a:r>
              <a:rPr b="1" lang="en-US" sz="1000">
                <a:solidFill>
                  <a:schemeClr val="dk1"/>
                </a:solidFill>
              </a:rPr>
              <a:t>Agent Initialisation (Core Logic - Stage 1):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lang="en-US" sz="900">
                <a:solidFill>
                  <a:schemeClr val="dk1"/>
                </a:solidFill>
              </a:rPr>
              <a:t>Auto-refresh expired access tokens (5-min buffer)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lang="en-US" sz="900">
                <a:solidFill>
                  <a:schemeClr val="dk1"/>
                </a:solidFill>
              </a:rPr>
              <a:t>Load 16 Gmail + Calendar tool schemas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●"/>
            </a:pPr>
            <a:r>
              <a:rPr lang="en-US" sz="900">
                <a:solidFill>
                  <a:schemeClr val="dk1"/>
                </a:solidFill>
              </a:rPr>
              <a:t>Convert chat history to Pi AI SDK format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>
                <a:solidFill>
                  <a:schemeClr val="dk1"/>
                </a:solidFill>
              </a:rPr>
              <a:t>Set system prompt + reasoning effort level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>
                <a:solidFill>
                  <a:schemeClr val="dk1"/>
                </a:solidFill>
              </a:rPr>
              <a:t>Output: Configured agent ready for loop</a:t>
            </a:r>
            <a:endParaRPr sz="9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3F3F3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9" name="Google Shape;89;g3dce7bfcba6_2_1"/>
          <p:cNvSpPr txBox="1"/>
          <p:nvPr/>
        </p:nvSpPr>
        <p:spPr>
          <a:xfrm>
            <a:off x="771850" y="5822388"/>
            <a:ext cx="12876900" cy="9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600" u="none" cap="none" strike="noStrike">
                <a:solidFill>
                  <a:srgbClr val="674EA7"/>
                </a:solidFill>
                <a:highlight>
                  <a:srgbClr val="FCE5CD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User Message/</a:t>
            </a:r>
            <a:r>
              <a:rPr b="1" lang="en-US" sz="1600">
                <a:solidFill>
                  <a:srgbClr val="674EA7"/>
                </a:solidFill>
                <a:highlight>
                  <a:srgbClr val="FCE5CD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API Route</a:t>
            </a:r>
            <a:r>
              <a:rPr b="1" i="0" lang="en-US" sz="1600" u="none" cap="none" strike="noStrike">
                <a:solidFill>
                  <a:srgbClr val="674EA7"/>
                </a:solidFill>
                <a:highlight>
                  <a:srgbClr val="FCE5CD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 → Auth &amp; Tokens → </a:t>
            </a:r>
            <a:r>
              <a:rPr b="1" lang="en-US" sz="1600">
                <a:solidFill>
                  <a:srgbClr val="674EA7"/>
                </a:solidFill>
                <a:highlight>
                  <a:srgbClr val="FCE5CD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Agent Init</a:t>
            </a:r>
            <a:r>
              <a:rPr b="1" i="0" lang="en-US" sz="1600" u="none" cap="none" strike="noStrike">
                <a:solidFill>
                  <a:srgbClr val="674EA7"/>
                </a:solidFill>
                <a:highlight>
                  <a:srgbClr val="FCE5CD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 → </a:t>
            </a:r>
            <a:r>
              <a:rPr b="1" lang="en-US" sz="1600">
                <a:solidFill>
                  <a:srgbClr val="674EA7"/>
                </a:solidFill>
                <a:highlight>
                  <a:srgbClr val="FCE5CD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Agentic Loop</a:t>
            </a:r>
            <a:r>
              <a:rPr b="1" i="0" lang="en-US" sz="1600" u="none" cap="none" strike="noStrike">
                <a:solidFill>
                  <a:srgbClr val="674EA7"/>
                </a:solidFill>
                <a:highlight>
                  <a:srgbClr val="FCE5CD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 → Streaming</a:t>
            </a:r>
            <a:r>
              <a:rPr b="1" lang="en-US" sz="1600">
                <a:solidFill>
                  <a:srgbClr val="674EA7"/>
                </a:solidFill>
                <a:highlight>
                  <a:srgbClr val="FCE5CD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 → Persist &amp; Display</a:t>
            </a:r>
            <a:endParaRPr b="1" i="0" sz="1600" u="none" cap="none" strike="noStrike">
              <a:solidFill>
                <a:srgbClr val="674EA7"/>
              </a:solidFill>
              <a:highlight>
                <a:srgbClr val="FCE5CD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0" name="Google Shape;90;g3dce7bfcba6_2_1"/>
          <p:cNvSpPr txBox="1"/>
          <p:nvPr/>
        </p:nvSpPr>
        <p:spPr>
          <a:xfrm>
            <a:off x="5911325" y="3493200"/>
            <a:ext cx="30000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7</a:t>
            </a:r>
            <a:r>
              <a:rPr b="1" lang="en-US" sz="1000">
                <a:solidFill>
                  <a:schemeClr val="dk1"/>
                </a:solidFill>
              </a:rPr>
              <a:t>. Conversation Management: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>
                <a:solidFill>
                  <a:schemeClr val="dk1"/>
                </a:solidFill>
              </a:rPr>
              <a:t>Create/list/fetch conversations via API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>
                <a:solidFill>
                  <a:schemeClr val="dk1"/>
                </a:solidFill>
              </a:rPr>
              <a:t>Store messages with role + content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>
                <a:solidFill>
                  <a:schemeClr val="dk1"/>
                </a:solidFill>
              </a:rPr>
              <a:t>Auto-generate titles from first message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>
                <a:solidFill>
                  <a:schemeClr val="dk1"/>
                </a:solidFill>
              </a:rPr>
              <a:t>Output: Persistent chat history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91" name="Google Shape;91;g3dce7bfcba6_2_1"/>
          <p:cNvSpPr txBox="1"/>
          <p:nvPr/>
        </p:nvSpPr>
        <p:spPr>
          <a:xfrm>
            <a:off x="8861350" y="3525600"/>
            <a:ext cx="30000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8</a:t>
            </a:r>
            <a:r>
              <a:rPr b="1" lang="en-US" sz="1000">
                <a:solidFill>
                  <a:schemeClr val="dk1"/>
                </a:solidFill>
              </a:rPr>
              <a:t>. </a:t>
            </a:r>
            <a:r>
              <a:rPr b="1" lang="en-US" sz="1000">
                <a:solidFill>
                  <a:schemeClr val="dk1"/>
                </a:solidFill>
              </a:rPr>
              <a:t>Database Layer (Supabase)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>
                <a:solidFill>
                  <a:schemeClr val="dk1"/>
                </a:solidFill>
              </a:rPr>
              <a:t>Tables: gmail_tokens, conversations, messages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>
                <a:solidFill>
                  <a:schemeClr val="dk1"/>
                </a:solidFill>
              </a:rPr>
              <a:t>PostgreSQL with Row-Level Security (RLS)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>
                <a:solidFill>
                  <a:schemeClr val="dk1"/>
                </a:solidFill>
              </a:rPr>
              <a:t>Auto-updated timestamps via triggers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>
                <a:solidFill>
                  <a:schemeClr val="dk1"/>
                </a:solidFill>
              </a:rPr>
              <a:t>User data isolation via auth.uid() policies</a:t>
            </a:r>
            <a:endParaRPr sz="900">
              <a:solidFill>
                <a:schemeClr val="dk1"/>
              </a:solidFill>
            </a:endParaRPr>
          </a:p>
        </p:txBody>
      </p:sp>
      <p:sp>
        <p:nvSpPr>
          <p:cNvPr id="92" name="Google Shape;92;g3dce7bfcba6_2_1"/>
          <p:cNvSpPr txBox="1"/>
          <p:nvPr/>
        </p:nvSpPr>
        <p:spPr>
          <a:xfrm>
            <a:off x="3416350" y="4690200"/>
            <a:ext cx="3000000" cy="11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9. Frontend UI Layer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>
                <a:solidFill>
                  <a:schemeClr val="dk1"/>
                </a:solidFill>
              </a:rPr>
              <a:t>Chat interface with StreamingText component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>
                <a:solidFill>
                  <a:schemeClr val="dk1"/>
                </a:solidFill>
              </a:rPr>
              <a:t>ReactMarkdown for formatted responses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>
                <a:solidFill>
                  <a:schemeClr val="dk1"/>
                </a:solidFill>
              </a:rPr>
              <a:t>Collapsible sidebar with conversation list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>
                <a:solidFill>
                  <a:schemeClr val="dk1"/>
                </a:solidFill>
              </a:rPr>
              <a:t>Model picker (Flash/Pro) + effort selector</a:t>
            </a:r>
            <a:endParaRPr/>
          </a:p>
        </p:txBody>
      </p:sp>
      <p:sp>
        <p:nvSpPr>
          <p:cNvPr id="93" name="Google Shape;93;g3dce7bfcba6_2_1"/>
          <p:cNvSpPr txBox="1"/>
          <p:nvPr/>
        </p:nvSpPr>
        <p:spPr>
          <a:xfrm>
            <a:off x="5911325" y="4690200"/>
            <a:ext cx="2482800" cy="12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10. Gmail &amp; Calendar Tool Execution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>
                <a:solidFill>
                  <a:schemeClr val="dk1"/>
                </a:solidFill>
              </a:rPr>
              <a:t>16 tools: list, get, search, send, reply, archive, trash, label, draft emails + calendar CRUD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>
                <a:solidFill>
                  <a:schemeClr val="dk1"/>
                </a:solidFill>
              </a:rPr>
              <a:t>Direct REST API calls with OAuth bearer tokens</a:t>
            </a:r>
            <a:endParaRPr sz="90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dce7bfcba6_2_1"/>
          <p:cNvSpPr txBox="1"/>
          <p:nvPr/>
        </p:nvSpPr>
        <p:spPr>
          <a:xfrm>
            <a:off x="8911325" y="4690200"/>
            <a:ext cx="3000000" cy="97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</a:rPr>
              <a:t>11. </a:t>
            </a:r>
            <a:r>
              <a:rPr b="1" lang="en-US" sz="1000">
                <a:solidFill>
                  <a:schemeClr val="dk1"/>
                </a:solidFill>
              </a:rPr>
              <a:t>Loop Termination &amp; Output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>
                <a:solidFill>
                  <a:schemeClr val="dk1"/>
                </a:solidFill>
              </a:rPr>
              <a:t>Stop when model produces text-only response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>
                <a:solidFill>
                  <a:schemeClr val="dk1"/>
                </a:solidFill>
              </a:rPr>
              <a:t>Or after max 8 turns (bounded execution)</a:t>
            </a:r>
            <a:endParaRPr sz="9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en-US" sz="900">
                <a:solidFill>
                  <a:schemeClr val="dk1"/>
                </a:solidFill>
              </a:rPr>
              <a:t>Final response streamed and persisted</a:t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3dbb29da49_0_11"/>
          <p:cNvSpPr txBox="1"/>
          <p:nvPr>
            <p:ph type="title"/>
          </p:nvPr>
        </p:nvSpPr>
        <p:spPr>
          <a:xfrm>
            <a:off x="-670780" y="1053438"/>
            <a:ext cx="121920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  Agentic Loop Architecture </a:t>
            </a:r>
            <a:endParaRPr/>
          </a:p>
        </p:txBody>
      </p:sp>
      <p:sp>
        <p:nvSpPr>
          <p:cNvPr id="101" name="Google Shape;101;g33dbb29da49_0_11"/>
          <p:cNvSpPr txBox="1"/>
          <p:nvPr>
            <p:ph idx="12" type="sldNum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2" name="Google Shape;102;g33dbb29da49_0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2575" y="2135300"/>
            <a:ext cx="6199451" cy="4210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0"/>
          <p:cNvSpPr txBox="1"/>
          <p:nvPr>
            <p:ph type="title"/>
          </p:nvPr>
        </p:nvSpPr>
        <p:spPr>
          <a:xfrm>
            <a:off x="1" y="946300"/>
            <a:ext cx="121920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r>
              <a:rPr lang="en-US"/>
              <a:t>Tools &amp; Technologies</a:t>
            </a:r>
            <a:endParaRPr/>
          </a:p>
        </p:txBody>
      </p:sp>
      <p:sp>
        <p:nvSpPr>
          <p:cNvPr id="108" name="Google Shape;108;p40"/>
          <p:cNvSpPr txBox="1"/>
          <p:nvPr>
            <p:ph idx="1" type="body"/>
          </p:nvPr>
        </p:nvSpPr>
        <p:spPr>
          <a:xfrm>
            <a:off x="1155700" y="2603500"/>
            <a:ext cx="8761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13716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highlight>
                <a:srgbClr val="FFFF00"/>
              </a:highlight>
            </a:endParaRPr>
          </a:p>
          <a:p>
            <a:pPr indent="0" lvl="0" marL="13716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highlight>
                <a:srgbClr val="FFFF00"/>
              </a:highlight>
            </a:endParaRPr>
          </a:p>
          <a:p>
            <a:pPr indent="0" lvl="0" marL="13716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109" name="Google Shape;109;p40"/>
          <p:cNvSpPr txBox="1"/>
          <p:nvPr>
            <p:ph idx="12" type="sldNum"/>
          </p:nvPr>
        </p:nvSpPr>
        <p:spPr>
          <a:xfrm>
            <a:off x="10339387" y="152400"/>
            <a:ext cx="838200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0" name="Google Shape;11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67625" y="2303975"/>
            <a:ext cx="8153401" cy="355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0d9c4f0da6_0_9"/>
          <p:cNvSpPr txBox="1"/>
          <p:nvPr>
            <p:ph type="title"/>
          </p:nvPr>
        </p:nvSpPr>
        <p:spPr>
          <a:xfrm>
            <a:off x="1" y="973125"/>
            <a:ext cx="121194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Tools &amp; Technologies</a:t>
            </a:r>
            <a:endParaRPr/>
          </a:p>
        </p:txBody>
      </p:sp>
      <p:sp>
        <p:nvSpPr>
          <p:cNvPr id="117" name="Google Shape;117;g30d9c4f0da6_0_9"/>
          <p:cNvSpPr txBox="1"/>
          <p:nvPr>
            <p:ph idx="1" type="body"/>
          </p:nvPr>
        </p:nvSpPr>
        <p:spPr>
          <a:xfrm>
            <a:off x="1477675" y="2603500"/>
            <a:ext cx="8761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rPr lang="en-US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40"/>
              <a:buNone/>
            </a:pPr>
            <a:r>
              <a:t/>
            </a:r>
            <a:endParaRPr/>
          </a:p>
        </p:txBody>
      </p:sp>
      <p:sp>
        <p:nvSpPr>
          <p:cNvPr id="118" name="Google Shape;118;g30d9c4f0da6_0_9"/>
          <p:cNvSpPr txBox="1"/>
          <p:nvPr>
            <p:ph idx="12" type="sldNum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9" name="Google Shape;119;g30d9c4f0da6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2638" y="2284388"/>
            <a:ext cx="7591425" cy="380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34dc14c23_0_0"/>
          <p:cNvSpPr txBox="1"/>
          <p:nvPr>
            <p:ph type="title"/>
          </p:nvPr>
        </p:nvSpPr>
        <p:spPr>
          <a:xfrm>
            <a:off x="2242158" y="973137"/>
            <a:ext cx="7674900" cy="680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e34dc14c23_0_0"/>
          <p:cNvSpPr txBox="1"/>
          <p:nvPr>
            <p:ph idx="1" type="body"/>
          </p:nvPr>
        </p:nvSpPr>
        <p:spPr>
          <a:xfrm>
            <a:off x="1155700" y="2603500"/>
            <a:ext cx="87615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e34dc14c23_0_0"/>
          <p:cNvSpPr txBox="1"/>
          <p:nvPr>
            <p:ph idx="12" type="sldNum"/>
          </p:nvPr>
        </p:nvSpPr>
        <p:spPr>
          <a:xfrm>
            <a:off x="10339387" y="152400"/>
            <a:ext cx="838200" cy="479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Gothic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on Boardroom">
  <a:themeElements>
    <a:clrScheme name="Ion Boardroom">
      <a:dk1>
        <a:srgbClr val="000000"/>
      </a:dk1>
      <a:lt1>
        <a:srgbClr val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2017-08-03T09:47:51Z</dcterms:created>
  <dc:creator>Windows User</dc:creator>
</cp:coreProperties>
</file>