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5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y="6858000" cx="12192000"/>
  <p:notesSz cx="6797675" cy="987425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32" roundtripDataSignature="AMtx7mhpsf6P62XUN/l/6okr/uwlmzwJb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Nivedh SKalaska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A0E0DC-B310-4D3F-9547-AB8C9215C828}">
  <a:tblStyle styleId="{43A0E0DC-B310-4D3F-9547-AB8C9215C8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D1A578C-9A36-4661-B7C2-BFBB48A61F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41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font" Target="fonts/CenturyGothic-regular.fntdata"/><Relationship Id="rId29" Type="http://schemas.openxmlformats.org/officeDocument/2006/relationships/font" Target="fonts/CenturyGothic-bold.fntdata"/><Relationship Id="rId30" Type="http://schemas.openxmlformats.org/officeDocument/2006/relationships/font" Target="fonts/CenturyGothic-italic.fntdata"/><Relationship Id="rId31" Type="http://schemas.openxmlformats.org/officeDocument/2006/relationships/font" Target="fonts/CenturyGothic-boldItalic.fntdata"/><Relationship Id="rId32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15T18:28:43.689">
    <p:pos x="6000" y="0"/>
    <p:text>im duplicating the literature survey slides so that its easier to copy paste them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15t9yr4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3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d0ede514_1_5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c5d0ede514_1_5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7:notes"/>
          <p:cNvSpPr/>
          <p:nvPr>
            <p:ph idx="2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8:notes"/>
          <p:cNvSpPr/>
          <p:nvPr>
            <p:ph idx="2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9:notes"/>
          <p:cNvSpPr/>
          <p:nvPr>
            <p:ph idx="2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dbb29da49_0_11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2" name="Google Shape;112;g33dbb29da49_0_1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3dbb29da49_0_1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5d0ede514_1_41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0" name="Google Shape;120;g3c5d0ede514_1_4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c5d0ede514_1_4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5d0ede514_1_58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g3c5d0ede514_1_5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c5d0ede514_1_5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5d0ede514_1_75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g3c5d0ede514_1_75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c5d0ede514_1_75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5d0ede514_1_94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g3c5d0ede514_1_94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c5d0ede514_1_94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5d0ede514_1_113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g3c5d0ede514_1_113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c5d0ede514_1_113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5d0ede514_1_130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0" name="Google Shape;160;g3c5d0ede514_1_13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c5d0ede514_1_13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5d0ede514_1_151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8" name="Google Shape;168;g3c5d0ede514_1_15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c5d0ede514_1_15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d9c4f0da6_0_24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" name="Google Shape;176;g30d9c4f0da6_0_24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0d9c4f0da6_0_24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56b7084ef_0_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5" name="Google Shape;185;g3156b7084ef_0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156b7084ef_0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56b7084ef_0_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3" name="Google Shape;193;g3156b7084ef_0_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156b7084ef_0_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9c4f0da6_0_3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1" name="Google Shape;201;g30d9c4f0da6_0_3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0d9c4f0da6_0_3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96417" y="2099733"/>
            <a:ext cx="10804890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67351" y="335692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6417" y="558343"/>
            <a:ext cx="19907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2223082" y="973137"/>
            <a:ext cx="7694029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41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803"/>
                  </a:srgbClr>
                </a:gs>
                <a:gs pos="36000">
                  <a:srgbClr val="F7F7F7">
                    <a:alpha val="8627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6666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" name="Google Shape;17;p4"/>
          <p:cNvSpPr/>
          <p:nvPr/>
        </p:nvSpPr>
        <p:spPr>
          <a:xfrm>
            <a:off x="10437812" y="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52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098720" y="973137"/>
            <a:ext cx="7818392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548656" y="2258913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0347324" y="41275"/>
            <a:ext cx="8382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6"/>
          <p:cNvGrpSpPr/>
          <p:nvPr/>
        </p:nvGrpSpPr>
        <p:grpSpPr>
          <a:xfrm>
            <a:off x="3220" y="-123660"/>
            <a:ext cx="12192000" cy="6981660"/>
            <a:chOff x="0" y="-2373"/>
            <a:chExt cx="12192000" cy="6867027"/>
          </a:xfrm>
        </p:grpSpPr>
        <p:sp>
          <p:nvSpPr>
            <p:cNvPr id="29" name="Google Shape;29;p6"/>
            <p:cNvSpPr/>
            <p:nvPr/>
          </p:nvSpPr>
          <p:spPr>
            <a:xfrm>
              <a:off x="0" y="0"/>
              <a:ext cx="12192000" cy="6857999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" name="Google Shape;30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803"/>
                  </a:srgbClr>
                </a:gs>
                <a:gs pos="36000">
                  <a:srgbClr val="F7F7F7">
                    <a:alpha val="8627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" name="Google Shape;31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6666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490"/>
                  </a:srgbClr>
                </a:gs>
                <a:gs pos="36000">
                  <a:srgbClr val="F7F7F7">
                    <a:alpha val="4705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-600000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843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" name="Google Shape;36;p6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1587"/>
              <a:ext cx="12192000" cy="6856414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38" name="Google Shape;38;p6"/>
          <p:cNvSpPr txBox="1"/>
          <p:nvPr>
            <p:ph type="title"/>
          </p:nvPr>
        </p:nvSpPr>
        <p:spPr>
          <a:xfrm>
            <a:off x="2274887" y="973137"/>
            <a:ext cx="7642225" cy="70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437812" y="0"/>
            <a:ext cx="685800" cy="606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52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2703512" y="629667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151812" y="150813"/>
            <a:ext cx="1600200" cy="1599946"/>
          </a:xfrm>
          <a:prstGeom prst="ellipse">
            <a:avLst/>
          </a:prstGeom>
          <a:gradFill>
            <a:gsLst>
              <a:gs pos="0">
                <a:srgbClr val="F7F7F7">
                  <a:alpha val="12549"/>
                </a:srgbClr>
              </a:gs>
              <a:gs pos="36000">
                <a:srgbClr val="F7F7F7">
                  <a:alpha val="5490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-14401800" y="-3308619"/>
            <a:ext cx="12192000" cy="6855326"/>
          </a:xfrm>
          <a:custGeom>
            <a:rect b="b" l="l" r="r" t="t"/>
            <a:pathLst>
              <a:path extrusionOk="0" h="8638" w="15356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67" y="472100"/>
            <a:ext cx="1478992" cy="10119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48550/arXiv.2004.10934" TargetMode="External"/><Relationship Id="rId4" Type="http://schemas.openxmlformats.org/officeDocument/2006/relationships/hyperlink" Target="https://doi.org/10.1016/j.autcon.2018.06.0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ctrTitle"/>
          </p:nvPr>
        </p:nvSpPr>
        <p:spPr>
          <a:xfrm>
            <a:off x="1683171" y="2099733"/>
            <a:ext cx="8825658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lang="en-US" sz="4000"/>
              <a:t>Flash — AI-Powered Email and Calendar Agent</a:t>
            </a:r>
            <a:endParaRPr sz="2800"/>
          </a:p>
        </p:txBody>
      </p:sp>
      <p:sp>
        <p:nvSpPr>
          <p:cNvPr id="65" name="Google Shape;65;p34"/>
          <p:cNvSpPr txBox="1"/>
          <p:nvPr>
            <p:ph idx="4294967295" type="subTitle"/>
          </p:nvPr>
        </p:nvSpPr>
        <p:spPr>
          <a:xfrm>
            <a:off x="1683171" y="342900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1CR23CS149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Ronish Rohan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1CR23CS107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Nihal Rahman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 of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Ann Mathews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34"/>
          <p:cNvSpPr txBox="1"/>
          <p:nvPr/>
        </p:nvSpPr>
        <p:spPr>
          <a:xfrm>
            <a:off x="3048699" y="619099"/>
            <a:ext cx="609450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BCS685 - Project Phase I</a:t>
            </a:r>
            <a:endParaRPr b="1" i="0" sz="12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- 1 </a:t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34"/>
          <p:cNvSpPr txBox="1"/>
          <p:nvPr/>
        </p:nvSpPr>
        <p:spPr>
          <a:xfrm>
            <a:off x="8710875" y="49690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Date:12/03/2</a:t>
            </a:r>
            <a:r>
              <a:rPr b="1" lang="en-US" sz="3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Introduction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Problem Statement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Objectives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Base Paper – Journal Paper Reference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Literature Survey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Gap Identification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References</a:t>
            </a:r>
            <a:endParaRPr/>
          </a:p>
        </p:txBody>
      </p:sp>
      <p:sp>
        <p:nvSpPr>
          <p:cNvPr id="74" name="Google Shape;74;p36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5d0ede514_1_5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0" name="Google Shape;80;g3c5d0ede514_1_5"/>
          <p:cNvSpPr txBox="1"/>
          <p:nvPr>
            <p:ph idx="1" type="body"/>
          </p:nvPr>
        </p:nvSpPr>
        <p:spPr>
          <a:xfrm>
            <a:off x="1155700" y="2603500"/>
            <a:ext cx="8761500" cy="3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3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40"/>
              <a:buFont typeface="Century Gothic"/>
              <a:buChar char="►"/>
            </a:pP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Need for the Project</a:t>
            </a: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/>
              <a:t>Professionals spend 28% of their workweek managing email — reading, replying, categorising, and following up on messages.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Existing email tools rely on brittle rule-based filters or passive AI assistance that cannot execute multi-step workflows.</a:t>
            </a:r>
            <a:endParaRPr sz="13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/>
              <a:t>No unified system exists for managing Gmail inbox and Google Calendar through natural language commands.</a:t>
            </a:r>
            <a:endParaRPr sz="12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73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40"/>
              <a:buFont typeface="Century Gothic"/>
              <a:buChar char="►"/>
            </a:pP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Nature of the Problem: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Email overload is the largest consumer of professional attention, causing decision fatigue and context-switching costs.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Multi-account Gmail users must switch between tabs and profiles with no unified command centre.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►"/>
            </a:pPr>
            <a:r>
              <a:rPr lang="en-US" sz="1200">
                <a:solidFill>
                  <a:schemeClr val="dk1"/>
                </a:solidFill>
              </a:rPr>
              <a:t>Calendar management is fragmented from email — scheduling tasks require manual cross-referencing between applications.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81" name="Google Shape;81;g3c5d0ede514_1_5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87" name="Google Shape;87;p37"/>
          <p:cNvSpPr txBox="1"/>
          <p:nvPr>
            <p:ph idx="1" type="body"/>
          </p:nvPr>
        </p:nvSpPr>
        <p:spPr>
          <a:xfrm>
            <a:off x="1155700" y="2603500"/>
            <a:ext cx="8761500" cy="3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Proposed Approach</a:t>
            </a: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Build a conversational AI agent powered by DeepSeek LLMs that controls Gmail and Google Calendar via natural language.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Implement a bounded agentic loop (max 8 turns) with 16 typed tool schemas for email and calendar operations.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Stream token-by-token responses to a React frontend with Framer Motion animations and persistent conversation history.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Expected Outcome</a:t>
            </a: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Natural language control over Gmail — read, search, send, reply, archive, trash, label, and draft emails via chat.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/>
              <a:t>Unified email and calendar management — create, update, delete events with Google Meet links from the same interface.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Significant reduction in manual email processing time through autonomous multi-step task execution.</a:t>
            </a:r>
            <a:endParaRPr sz="12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88" name="Google Shape;88;p37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4" name="Google Shape;94;p38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Char char="►"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in Existing Systems: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Current email tools offer either brittle rule-based filters (Gmail labels) or passive AI assistance (Smart Compose, Smart Reply) that cannot execute multi-step workflows autonomously. No system allows natural language commands for email management.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Char char="►"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Goal of the Project: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develop Flash — a conversational AI agent that manages Gmail inbox and Google Calendar through natural language commands, using a bounded agentic loop with typed tool schemas and streaming responses.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Char char="►"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Existing and Ideal System: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assistants are passive and single-action. An ideal system should autonomously decompose high-level intent into multi-step API operations, execute them, and report results through a streaming chat interface.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Char char="►"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Proposed Solution and Impact: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Flash implements a bounded agentic loop (max 8 turns) with 16 Gmail/Calendar tools, streaming inference via Pi AI SDK, and Supabase-backed persistence — enabling autonomous email and calendar management from a single chat interface.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95" name="Google Shape;95;p38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01" name="Google Shape;101;p39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Char char="►"/>
            </a:pPr>
            <a:r>
              <a:rPr lang="en-US">
                <a:latin typeface="Century Gothic"/>
                <a:ea typeface="Century Gothic"/>
                <a:cs typeface="Century Gothic"/>
                <a:sym typeface="Century Gothic"/>
              </a:rPr>
              <a:t>Project Objectives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Develop a conversational AI agent for email and calendar management using DeepSeek LLMs with tool-call support.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Implement a bounded agentic loop with 16 typed Gmail and Calendar tool schemas for reliable, multi-step execution.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Build a streaming chat backend using Next.js API routes delivering token-by-token responses via ReadableStream.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Char char="►"/>
            </a:pPr>
            <a:r>
              <a:rPr lang="en-US" sz="1200">
                <a:solidFill>
                  <a:schemeClr val="dk1"/>
                </a:solidFill>
              </a:rPr>
              <a:t>Create a modern React frontend with Framer Motion animations, conversation history, model picker, and glassmorphic UI.</a:t>
            </a:r>
            <a:endParaRPr sz="1200"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02" name="Google Shape;102;p39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Base Paper</a:t>
            </a:r>
            <a:endParaRPr/>
          </a:p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Reference Paper –</a:t>
            </a:r>
            <a:endParaRPr/>
          </a:p>
          <a:p>
            <a:pPr indent="0" lvl="0" marL="13716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S. Yao, J. Zhao, D. Yu, N. Du, I. Shafran, K. Narasimhan, Y. Cao,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“ReAct: Synergizing Reasoning and Acting in Language Models,”</a:t>
            </a:r>
            <a:endParaRPr i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</a:t>
            </a:r>
            <a:r>
              <a:rPr i="1"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Proceedings of ICLR</a:t>
            </a: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2023.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keywords: {Large language models; Tool use; Reasoning; Acting; Agentic systems; Function calling; Multi-step task execution; Chain-of-thought; Natural language interfaces}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highlight>
                  <a:schemeClr val="lt1"/>
                </a:highlight>
              </a:rPr>
              <a:t>DOI: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10.48550/arXiv.2210.03629</a:t>
            </a:r>
            <a:endParaRPr sz="25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9" name="Google Shape;109;p40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dbb29da49_0_11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16" name="Google Shape;116;g33dbb29da49_0_1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7" name="Google Shape;117;g33dbb29da49_0_11"/>
          <p:cNvGraphicFramePr/>
          <p:nvPr/>
        </p:nvGraphicFramePr>
        <p:xfrm>
          <a:off x="732975" y="227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32275"/>
                <a:gridCol w="1043700"/>
                <a:gridCol w="1043700"/>
                <a:gridCol w="3328150"/>
                <a:gridCol w="3026750"/>
                <a:gridCol w="1952900"/>
              </a:tblGrid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[1]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Yao et al. (2023)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ReAct: Synergizing Reasoning and Acting in Language Models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Interleaves chain-of-thought reasoning with tool actions
LLM as reasoning engine with external tool invocation
Bounded observe-reason-act loop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Improved task completion over pure CoT or pure action
35.1% on HotpotQA vs 28.7% action-only
Reduced hallucination through grounded observations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Research framework, not production system
Limited tool set in evaluation
Requires careful prompt engineering
No streaming support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[2]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Schick et al. (2023)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Toolformer: Language Models Can Teach Themselves to Use Tools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Self-supervised training for tool use
Model learns to insert API calls reducing perplexity
Supports calculator, search, translator, calendar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Models autonomously decide when to use tools
Competitive zero-shot with much larger models
No hand-crafted tool-use prompts needed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000"/>
                      </a:b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Requires fine-tuning step
Limited to tools seen in training
Cannot generalise to new APIs
High training cost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5d0ede514_1_41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24" name="Google Shape;124;g3c5d0ede514_1_4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5" name="Google Shape;125;g3c5d0ede514_1_41"/>
          <p:cNvGraphicFramePr/>
          <p:nvPr/>
        </p:nvGraphicFramePr>
        <p:xfrm>
          <a:off x="1337275" y="229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489150"/>
                <a:gridCol w="959100"/>
                <a:gridCol w="959100"/>
                <a:gridCol w="3058350"/>
                <a:gridCol w="2781425"/>
                <a:gridCol w="1794600"/>
              </a:tblGrid>
              <a:tr h="1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[3]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Chen et al. (2019)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Gmail Smart Compose: Real-Time Assisted Writing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Large-scale neural language model
Real-time inline sentence completion
Personalised on user's email corpus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Reduced keystrokes for email composition
Deployed to hundreds of millions of users
High-throughput low-latency serving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Text generation only — no workflow automation
Cannot execute multi-step actions
Passive assistance model
No calendar integration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9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[4]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Kannan et al. (2016)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Smart Reply: Automated Response Suggestion for Email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Deep LSTM sequence-to-sequence model
Generates 3 short reply suggestions per email
Trained on anonymised email pairs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Selected for 12% of mobile Gmail replies
First large-scale neural email assistant
Demonstrated user acceptance of AI replies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Short replies only (5-15 words)
No complex reasoning or multi-step
Cannot access other emails
Passive single-action only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5d0ede514_1_5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32" name="Google Shape;132;g3c5d0ede514_1_5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3" name="Google Shape;133;g3c5d0ede514_1_58"/>
          <p:cNvGraphicFramePr/>
          <p:nvPr/>
        </p:nvGraphicFramePr>
        <p:xfrm>
          <a:off x="1030275" y="213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22325"/>
                <a:gridCol w="1024200"/>
                <a:gridCol w="1024200"/>
                <a:gridCol w="3265775"/>
                <a:gridCol w="2970075"/>
                <a:gridCol w="1916300"/>
              </a:tblGrid>
              <a:tr h="180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[5]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Shen et al. (2023)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HuggingGPT: Solving AI Tasks with ChatGPT and Friends in HuggingFace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ChatGPT as controller orchestrating HuggingFace models
Four-stage pipeline: plan, select, execute, synthesise
Multi-modal task decomposition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LLM can orchestrate specialised tools effectively
Handles complex multi-step multi-modal tasks
Demonstrates controller-executor architecture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High latency from multiple model calls
No email/calendar domain support
Requires many specialised models
Not suitable for real-time interaction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[6]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Patil et al. (2024)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Gorilla: Large Language Model Connected with Massive APIs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Fine-tuned LLaMA on API documentation
Retriever-aware training (RAT)
Adapts to test-time API changes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Surpasses GPT-4 in accurate API calls
Lower hallucination rates on tool invocation
Adapts to API version evolution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/>
                        <a:t>Requires fine-tuning on API docs
Not a general-purpose agent
No multi-turn conversation support
Limited to API calling accuracy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5d0ede514_1_75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40" name="Google Shape;140;g3c5d0ede514_1_75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1" name="Google Shape;141;g3c5d0ede514_1_75"/>
          <p:cNvGraphicFramePr/>
          <p:nvPr/>
        </p:nvGraphicFramePr>
        <p:xfrm>
          <a:off x="1308525" y="228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484475"/>
                <a:gridCol w="949950"/>
                <a:gridCol w="949950"/>
                <a:gridCol w="3019625"/>
                <a:gridCol w="2764375"/>
                <a:gridCol w="1777450"/>
              </a:tblGrid>
              <a:tr h="18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[7]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Richards (2023)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AutoGPT: Autonomous GPT-4 Agent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Fully autonomous LLM agent loop
Decomposes goals into sub-tasks
Uses web search, file I/O, code execution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First widely-adopted autonomous AI agent
Fastest-growing GitHub repository
Demonstrated demand for autonomous agents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Unbounded execution — no turn limit
Hallucinated plans and circular reasoning
Poor error recovery
Not production-ready for email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[8]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Nakajima (2023)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BabyAGI: Task-Driven Autonomous Agent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Priority queue of tasks executed by GPT-4
Generates new tasks from results
Re-prioritises queue after each step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Autonomous agent in ~100 lines of Python
Demonstrated simplicity of agent architecture
Inspired many derivative projects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Unbounded loops on ambiguous tasks
No typed tool schemas
No streaming support
Not suited for production email management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5d0ede514_1_94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48" name="Google Shape;148;g3c5d0ede514_1_94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9" name="Google Shape;149;g3c5d0ede514_1_94"/>
          <p:cNvGraphicFramePr/>
          <p:nvPr/>
        </p:nvGraphicFramePr>
        <p:xfrm>
          <a:off x="550800" y="228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21375"/>
                <a:gridCol w="1022325"/>
                <a:gridCol w="1022325"/>
                <a:gridCol w="3249675"/>
                <a:gridCol w="2974975"/>
                <a:gridCol w="1912875"/>
              </a:tblGrid>
              <a:tr h="184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[9]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Wang et al. (2024)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A Survey on LLM-based Autonomous Agents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Comprehensive survey of 200+ papers
Analyses profiling, memory, planning, action
Catalogues agent architectures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Bounded agentic loops critical for production
Unbounded agents have higher hallucination
Typed tool schemas improve reliability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Survey paper — no implementation
Rapidly evolving field
Limited email/calendar coverage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[10]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Lewis et al. (2020)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RAG for Knowledge-Intensive NLP Tasks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Dense passage retriever + generative model
Retrieves relevant docs before generating
End-to-end differentiable retrieval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Outperforms pure generative models
Established RAG as fundamental technique
Grounds responses in external knowledge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Static document corpus only
Not designed for live API access
Retrieval latency overhead
Requires pre-indexed corpus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5d0ede514_1_113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56" name="Google Shape;156;g3c5d0ede514_1_113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57" name="Google Shape;157;g3c5d0ede514_1_113"/>
          <p:cNvGraphicFramePr/>
          <p:nvPr/>
        </p:nvGraphicFramePr>
        <p:xfrm>
          <a:off x="550800" y="228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21375"/>
                <a:gridCol w="1022325"/>
                <a:gridCol w="1070275"/>
                <a:gridCol w="3201725"/>
                <a:gridCol w="2974975"/>
                <a:gridCol w="1912875"/>
              </a:tblGrid>
              <a:tr h="185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7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[11]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Nakano et al. (2021)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WebGPT: Browser-Assisted QA with Human Feedback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GPT-3 with text-based web browsing
Search, click, scroll, quote commands
Trained via imitation learning and RLHF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Preferred over human answers 56% of time
Demonstrates agentic observe-reason-act loop
Grounds responses in web sources</a:t>
                      </a: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Limited to web browsing only
Cannot interact with email/calendar APIs
Requires RLHF fine-tuning
High training compute cost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[12]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Liang et al. (2023)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TaskMatrix.AI: Connecting Foundation Models with Millions of APIs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Foundation model controller + millions of APIs
Structured API schema for discovery
Multi-domain task completion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LLMs can invoke previously unseen APIs
Structured schemas improve invocation accuracy
Scalable tool-use architecture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High orchestration latency
Requires comprehensive API docs
No email-specific evaluation
Complex infrastructure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5d0ede514_1_13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64" name="Google Shape;164;g3c5d0ede514_1_13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5" name="Google Shape;165;g3c5d0ede514_1_130"/>
          <p:cNvGraphicFramePr/>
          <p:nvPr/>
        </p:nvGraphicFramePr>
        <p:xfrm>
          <a:off x="569975" y="231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21375"/>
                <a:gridCol w="1022325"/>
                <a:gridCol w="1070275"/>
                <a:gridCol w="3201725"/>
                <a:gridCol w="2974975"/>
                <a:gridCol w="1912875"/>
              </a:tblGrid>
              <a:tr h="185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[13]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Mark et al. (2016)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Email Duration, Batching and Self-interruption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12-day instrumented study of 40 workers
Logged email activity and stress levels
Analysed batching vs reactive behaviour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Batch processing reduces stress
23-min recovery after email interruption
11.7 min per session, 6.3 msgs per session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Small sample (40 workers)
Short study (12 days)
No AI automation evaluated
Behaviour patterns, not solutions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[14]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Dabbish, Kraut (2006)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Email Overload at Work: Factors Associated with Email Strain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Large-scale survey at Microsoft Research
20,000+ emails across 600 workers
Identified email strain factors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Volume and response complexity drive strain
100+ emails/day = significantly higher stress
No tool addressed composition burden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Survey-based methodology
No technical solution proposed
Pre-dates modern AI
Single organisation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5d0ede514_1_151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Literature Survey - Comparison Chart</a:t>
            </a:r>
            <a:endParaRPr/>
          </a:p>
        </p:txBody>
      </p:sp>
      <p:sp>
        <p:nvSpPr>
          <p:cNvPr id="172" name="Google Shape;172;g3c5d0ede514_1_15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3" name="Google Shape;173;g3c5d0ede514_1_151"/>
          <p:cNvGraphicFramePr/>
          <p:nvPr/>
        </p:nvGraphicFramePr>
        <p:xfrm>
          <a:off x="617950" y="28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{43A0E0DC-B310-4D3F-9547-AB8C9215C828}</a:tableStyleId>
              </a:tblPr>
              <a:tblGrid>
                <a:gridCol w="521375"/>
                <a:gridCol w="1022325"/>
                <a:gridCol w="1070275"/>
                <a:gridCol w="3201725"/>
                <a:gridCol w="2974975"/>
                <a:gridCol w="1912875"/>
              </a:tblGrid>
              <a:tr h="185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Ref.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Author &amp; Year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Title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Methodology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Key Findings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/>
                        <a:t>Limitations</a:t>
                      </a:r>
                      <a:endParaRPr b="1" sz="1000" u="none" cap="none" strike="noStrike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[15]</a:t>
                      </a:r>
                      <a:r>
                        <a:rPr lang="en-US" sz="1000"/>
                        <a:t/>
                      </a:r>
                      <a:r>
                        <a:rPr lang="en-US" sz="1000" u="none" cap="none" strike="noStrike"/>
                        <a:t/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Kwon et al. (2023)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/>
                        <a:t>Efficient Memory Management for LLM Serving with PagedAttention</a:t>
                      </a:r>
                      <a:endParaRPr sz="1000" u="none" cap="none" strike="noStrike"/>
                    </a:p>
                  </a:txBody>
                  <a:tcPr marT="19050" marB="19050" marR="28575" marL="28575" anchor="ctr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PagedAttention for non-contiguous KV cache
Virtual memory concepts for LLM serving
Optimises concurrent request handling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2–24x throughput over HuggingFace baseline
Enables high-concurrency streaming inference
Makes production LLM serving practical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Focused on infrastructure, not application
Requires GPU hardware
Does not address agent-level concerns
Complex implementation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/>
                      </a:r>
                      <a:endParaRPr sz="1000"/>
                    </a:p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28575" marL="28575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d9c4f0da6_0_24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Gaps Identification</a:t>
            </a:r>
            <a:endParaRPr/>
          </a:p>
        </p:txBody>
      </p:sp>
      <p:sp>
        <p:nvSpPr>
          <p:cNvPr id="180" name="Google Shape;180;g30d9c4f0da6_0_24"/>
          <p:cNvSpPr txBox="1"/>
          <p:nvPr>
            <p:ph idx="1" type="body"/>
          </p:nvPr>
        </p:nvSpPr>
        <p:spPr>
          <a:xfrm>
            <a:off x="916575" y="2307825"/>
            <a:ext cx="10164300" cy="3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Passive AI Assistance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email AI tools (Smart Compose, Smart Reply, Copilot) assist individual actions but cannot execute multi-step workflows autonomously.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Fragmented Email and Calendar Tooling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 and calendar are managed by separate tools with no conversational bridge. Users context-switch between applications for related tasks.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Unbounded Autonomous Agents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 agents (AutoGPT, BabyAGI) lack constraints for reliable execution — unbounded loops, hallucinated plans, and poor error recovery.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Streaming Interaction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email AI tools use request-response models without streaming, creating poor UX for complex multi-tool tasks that take several seconds.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Type-Safe Tool Schemas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agent frameworks define tools via unstructured descriptions, leading to high rates of malformed API calls and hallucinated parameters.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0d9c4f0da6_0_24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30d9c4f0da6_0_24"/>
          <p:cNvSpPr txBox="1"/>
          <p:nvPr/>
        </p:nvSpPr>
        <p:spPr>
          <a:xfrm>
            <a:off x="1423975" y="3551750"/>
            <a:ext cx="942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56b7084ef_0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Timeline </a:t>
            </a:r>
            <a:endParaRPr/>
          </a:p>
        </p:txBody>
      </p:sp>
      <p:sp>
        <p:nvSpPr>
          <p:cNvPr id="189" name="Google Shape;189;g3156b7084ef_0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g3156b7084e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25" y="2453572"/>
            <a:ext cx="11888049" cy="3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56b7084ef_0_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Software / Hardware Requirements</a:t>
            </a:r>
            <a:endParaRPr/>
          </a:p>
        </p:txBody>
      </p:sp>
      <p:sp>
        <p:nvSpPr>
          <p:cNvPr id="197" name="Google Shape;197;g3156b7084ef_0_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8" name="Google Shape;198;g3156b7084ef_0_8"/>
          <p:cNvGraphicFramePr/>
          <p:nvPr/>
        </p:nvGraphicFramePr>
        <p:xfrm>
          <a:off x="394375" y="242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{3D1A578C-9A36-4661-B7C2-BFBB48A61FAC}</a:tableStyleId>
              </a:tblPr>
              <a:tblGrid>
                <a:gridCol w="5685225"/>
                <a:gridCol w="5685225"/>
              </a:tblGrid>
              <a:tr h="51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               </a:t>
                      </a:r>
                      <a:r>
                        <a:rPr lang="en-US" sz="1700"/>
                        <a:t>Software Requirements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           </a:t>
                      </a:r>
                      <a:r>
                        <a:rPr lang="en-US" sz="1600"/>
                        <a:t>        </a:t>
                      </a:r>
                      <a:r>
                        <a:rPr lang="en-US" sz="1700"/>
                        <a:t> Hardware Requirements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309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
Operating System: Windows 10 / Linux / macOS
Language: TypeScript, JavaScript
Framework: Next.js 16 (App Router) + React 18
Runtime: Node.js
Database: Supabase (PostgreSQL)
AI SDK: Pi AI SDK (@earendil-works/pi-ai)
LLM: DeepSeek V4 Flash / Pro
APIs: Gmail REST API v1, Google Calendar API v3
Auth: Supabase Auth + Google OAuth 2.0
Styling: Tailwind CSS, Framer Motion
IDE: VS Code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
Processor: Intel Core i5 / Apple M1 or higher
RAM: Minimum 8 GB (16 GB recommended)
Storage: Minimum 256 GB SSD
Internet: Broadband connection required
Display: 1920x1080 or higher
GPU: Not required (inference is cloud-based)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/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d9c4f0da6_0_39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5" name="Google Shape;205;g30d9c4f0da6_0_39"/>
          <p:cNvSpPr txBox="1"/>
          <p:nvPr>
            <p:ph idx="1" type="body"/>
          </p:nvPr>
        </p:nvSpPr>
        <p:spPr>
          <a:xfrm>
            <a:off x="1155700" y="2603500"/>
            <a:ext cx="8761500" cy="3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Yao, Zhao, Yu, Du, Shafran, Narasimhan, Cao,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“ReAct: Synergizing Reasoning and Acting in Language Models,”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ICLR, 2023, DOI: 10.48550/arXiv.2210.03629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Schick, Dwivedi-Yu, Dessi et al.,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“Toolformer: Language Models Can Teach Themselves to Use Tools,”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NeurIPS, 2023, DOI: 10.48550/arXiv.2302.04761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Chen, Lee, Bansal et al.,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“Gmail Smart Compose: Real-Time Assisted Writing,”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KDD, 2019, DOI: 10.1145/3292500.3330723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Kannan, Kurach, Ravi et al.,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“Smart Reply: Automated Response Suggestion for Email,”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KDD, 2016, DOI: 10.1145/2939672.2939801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100"/>
          </a:p>
        </p:txBody>
      </p:sp>
      <p:sp>
        <p:nvSpPr>
          <p:cNvPr id="206" name="Google Shape;206;g30d9c4f0da6_0_3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2017-08-03T09:47:51Z</dcterms:created>
  <dc:creator>Windows User</dc:creator>
</cp:coreProperties>
</file>